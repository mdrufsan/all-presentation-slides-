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Gagalin" charset="1" panose="00000500000000000000"/>
      <p:regular r:id="rId9"/>
    </p:embeddedFont>
    <p:embeddedFont>
      <p:font typeface="Anton" charset="1" panose="00000500000000000000"/>
      <p:regular r:id="rId10"/>
    </p:embeddedFont>
    <p:embeddedFont>
      <p:font typeface="Glacial Indifference Bold" charset="1" panose="00000800000000000000"/>
      <p:regular r:id="rId11"/>
    </p:embeddedFont>
    <p:embeddedFont>
      <p:font typeface="Glacial Indifference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53596" y="-296573"/>
            <a:ext cx="10881325" cy="10880146"/>
            <a:chOff x="0" y="0"/>
            <a:chExt cx="14508434" cy="14506861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-216290" y="870412"/>
              <a:ext cx="14506861" cy="12766038"/>
            </a:xfrm>
            <a:custGeom>
              <a:avLst/>
              <a:gdLst/>
              <a:ahLst/>
              <a:cxnLst/>
              <a:rect r="r" b="b" t="t" l="l"/>
              <a:pathLst>
                <a:path h="12766038" w="14506861">
                  <a:moveTo>
                    <a:pt x="0" y="0"/>
                  </a:moveTo>
                  <a:lnTo>
                    <a:pt x="14506862" y="0"/>
                  </a:lnTo>
                  <a:lnTo>
                    <a:pt x="14506862" y="12766038"/>
                  </a:lnTo>
                  <a:lnTo>
                    <a:pt x="0" y="12766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0" y="869720"/>
              <a:ext cx="14508434" cy="12767422"/>
            </a:xfrm>
            <a:custGeom>
              <a:avLst/>
              <a:gdLst/>
              <a:ahLst/>
              <a:cxnLst/>
              <a:rect r="r" b="b" t="t" l="l"/>
              <a:pathLst>
                <a:path h="12767422" w="14508434">
                  <a:moveTo>
                    <a:pt x="0" y="0"/>
                  </a:moveTo>
                  <a:lnTo>
                    <a:pt x="14508434" y="0"/>
                  </a:lnTo>
                  <a:lnTo>
                    <a:pt x="14508434" y="12767422"/>
                  </a:lnTo>
                  <a:lnTo>
                    <a:pt x="0" y="12767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927730" y="-296573"/>
            <a:ext cx="10881325" cy="10880146"/>
            <a:chOff x="0" y="0"/>
            <a:chExt cx="14508434" cy="14506861"/>
          </a:xfrm>
        </p:grpSpPr>
        <p:sp>
          <p:nvSpPr>
            <p:cNvPr name="Freeform 6" id="6"/>
            <p:cNvSpPr/>
            <p:nvPr/>
          </p:nvSpPr>
          <p:spPr>
            <a:xfrm flipH="false" flipV="false" rot="5400000">
              <a:off x="-561172" y="870412"/>
              <a:ext cx="14506861" cy="12766038"/>
            </a:xfrm>
            <a:custGeom>
              <a:avLst/>
              <a:gdLst/>
              <a:ahLst/>
              <a:cxnLst/>
              <a:rect r="r" b="b" t="t" l="l"/>
              <a:pathLst>
                <a:path h="12766038" w="14506861">
                  <a:moveTo>
                    <a:pt x="0" y="0"/>
                  </a:moveTo>
                  <a:lnTo>
                    <a:pt x="14506861" y="0"/>
                  </a:lnTo>
                  <a:lnTo>
                    <a:pt x="14506861" y="12766038"/>
                  </a:lnTo>
                  <a:lnTo>
                    <a:pt x="0" y="12766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869720"/>
              <a:ext cx="14508434" cy="12767422"/>
            </a:xfrm>
            <a:custGeom>
              <a:avLst/>
              <a:gdLst/>
              <a:ahLst/>
              <a:cxnLst/>
              <a:rect r="r" b="b" t="t" l="l"/>
              <a:pathLst>
                <a:path h="12767422" w="14508434">
                  <a:moveTo>
                    <a:pt x="0" y="0"/>
                  </a:moveTo>
                  <a:lnTo>
                    <a:pt x="14508434" y="0"/>
                  </a:lnTo>
                  <a:lnTo>
                    <a:pt x="14508434" y="12767422"/>
                  </a:lnTo>
                  <a:lnTo>
                    <a:pt x="0" y="12767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30904" y="-403262"/>
            <a:ext cx="16226191" cy="622220"/>
            <a:chOff x="0" y="0"/>
            <a:chExt cx="5520178" cy="2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0178" cy="211680"/>
            </a:xfrm>
            <a:custGeom>
              <a:avLst/>
              <a:gdLst/>
              <a:ahLst/>
              <a:cxnLst/>
              <a:rect r="r" b="b" t="t" l="l"/>
              <a:pathLst>
                <a:path h="211680" w="5520178">
                  <a:moveTo>
                    <a:pt x="0" y="0"/>
                  </a:moveTo>
                  <a:lnTo>
                    <a:pt x="5520178" y="0"/>
                  </a:lnTo>
                  <a:lnTo>
                    <a:pt x="5520178" y="211680"/>
                  </a:lnTo>
                  <a:lnTo>
                    <a:pt x="0" y="211680"/>
                  </a:lnTo>
                  <a:close/>
                </a:path>
              </a:pathLst>
            </a:custGeom>
            <a:solidFill>
              <a:srgbClr val="2166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5520178" cy="173580"/>
            </a:xfrm>
            <a:prstGeom prst="rect">
              <a:avLst/>
            </a:prstGeom>
          </p:spPr>
          <p:txBody>
            <a:bodyPr anchor="ctr" rtlCol="false" tIns="42517" lIns="42517" bIns="42517" rIns="42517"/>
            <a:lstStyle/>
            <a:p>
              <a:pPr algn="ctr">
                <a:lnSpc>
                  <a:spcPts val="207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5799" y="1576428"/>
            <a:ext cx="3085002" cy="5287755"/>
            <a:chOff x="0" y="0"/>
            <a:chExt cx="4113336" cy="705034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997397" cy="6929221"/>
              <a:chOff x="0" y="0"/>
              <a:chExt cx="812800" cy="140893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49351" lIns="49351" bIns="49351" rIns="49351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15939" y="121119"/>
              <a:ext cx="3997397" cy="6929221"/>
              <a:chOff x="0" y="0"/>
              <a:chExt cx="812800" cy="140893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49351" lIns="49351" bIns="49351" rIns="49351"/>
              <a:lstStyle/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CONTENT PRODUCERS</a:t>
                </a:r>
              </a:p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TECHNOLOGY PROVIDERS</a:t>
                </a:r>
              </a:p>
              <a:p>
                <a:pPr algn="ctr">
                  <a:lnSpc>
                    <a:spcPts val="2077"/>
                  </a:lnSpc>
                </a:pPr>
              </a:p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DISTRIBUTION PARTNERS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4314233" y="1490486"/>
            <a:ext cx="3094067" cy="2598458"/>
            <a:chOff x="0" y="0"/>
            <a:chExt cx="4125423" cy="346461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8026" y="121119"/>
              <a:ext cx="3997397" cy="3343492"/>
              <a:chOff x="0" y="0"/>
              <a:chExt cx="812800" cy="67984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7683340" y="1490486"/>
            <a:ext cx="3093665" cy="5287755"/>
            <a:chOff x="0" y="0"/>
            <a:chExt cx="4124886" cy="705034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997397" cy="6929221"/>
              <a:chOff x="0" y="0"/>
              <a:chExt cx="812800" cy="140893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7489" y="121119"/>
              <a:ext cx="3997397" cy="6929221"/>
              <a:chOff x="0" y="0"/>
              <a:chExt cx="812800" cy="140893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0872354" y="1490486"/>
            <a:ext cx="3102095" cy="2598458"/>
            <a:chOff x="0" y="0"/>
            <a:chExt cx="4136127" cy="346461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38730" y="121119"/>
              <a:ext cx="3997397" cy="3343492"/>
              <a:chOff x="0" y="0"/>
              <a:chExt cx="812800" cy="67984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14157607" y="1490486"/>
            <a:ext cx="3101693" cy="5287755"/>
            <a:chOff x="0" y="0"/>
            <a:chExt cx="4135590" cy="705034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3997397" cy="6929221"/>
              <a:chOff x="0" y="0"/>
              <a:chExt cx="812800" cy="140893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38193" y="121119"/>
              <a:ext cx="3997397" cy="6929221"/>
              <a:chOff x="0" y="0"/>
              <a:chExt cx="812800" cy="140893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INDIVIDUALS </a:t>
                </a:r>
              </a:p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Families</a:t>
                </a:r>
              </a:p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Businesses</a:t>
                </a:r>
              </a:p>
              <a:p>
                <a:pPr algn="ctr">
                  <a:lnSpc>
                    <a:spcPts val="2077"/>
                  </a:lnSpc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4305572" y="4179783"/>
            <a:ext cx="3094067" cy="2598458"/>
            <a:chOff x="0" y="0"/>
            <a:chExt cx="4125423" cy="346461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28026" y="121119"/>
              <a:ext cx="3997397" cy="3343492"/>
              <a:chOff x="0" y="0"/>
              <a:chExt cx="812800" cy="67984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10884511" y="4179783"/>
            <a:ext cx="3094067" cy="2598458"/>
            <a:chOff x="0" y="0"/>
            <a:chExt cx="4125423" cy="3464610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28026" y="121119"/>
              <a:ext cx="3997397" cy="3343492"/>
              <a:chOff x="0" y="0"/>
              <a:chExt cx="812800" cy="67984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1135799" y="6988008"/>
            <a:ext cx="8028233" cy="2534952"/>
            <a:chOff x="0" y="0"/>
            <a:chExt cx="10704311" cy="3379936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485676" cy="3303802"/>
              <a:chOff x="0" y="0"/>
              <a:chExt cx="2185490" cy="68859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18549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2185490">
                    <a:moveTo>
                      <a:pt x="0" y="0"/>
                    </a:moveTo>
                    <a:lnTo>
                      <a:pt x="2185490" y="0"/>
                    </a:lnTo>
                    <a:lnTo>
                      <a:pt x="218549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38100"/>
                <a:ext cx="218549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124897" y="118158"/>
              <a:ext cx="10579414" cy="3261777"/>
              <a:chOff x="0" y="0"/>
              <a:chExt cx="2205027" cy="67984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205027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2205027">
                    <a:moveTo>
                      <a:pt x="0" y="0"/>
                    </a:moveTo>
                    <a:lnTo>
                      <a:pt x="2205027" y="0"/>
                    </a:lnTo>
                    <a:lnTo>
                      <a:pt x="2205027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38100"/>
                <a:ext cx="2205027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9231067" y="6968981"/>
            <a:ext cx="8028233" cy="2534952"/>
            <a:chOff x="0" y="0"/>
            <a:chExt cx="10704311" cy="3379936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10485676" cy="3303802"/>
              <a:chOff x="0" y="0"/>
              <a:chExt cx="2185490" cy="688599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218549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2185490">
                    <a:moveTo>
                      <a:pt x="0" y="0"/>
                    </a:moveTo>
                    <a:lnTo>
                      <a:pt x="2185490" y="0"/>
                    </a:lnTo>
                    <a:lnTo>
                      <a:pt x="218549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38100"/>
                <a:ext cx="218549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24897" y="118158"/>
              <a:ext cx="10579414" cy="3261777"/>
              <a:chOff x="0" y="0"/>
              <a:chExt cx="2205027" cy="67984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2205027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2205027">
                    <a:moveTo>
                      <a:pt x="0" y="0"/>
                    </a:moveTo>
                    <a:lnTo>
                      <a:pt x="2205027" y="0"/>
                    </a:lnTo>
                    <a:lnTo>
                      <a:pt x="2205027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38100"/>
                <a:ext cx="2205027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4" id="74"/>
          <p:cNvGrpSpPr/>
          <p:nvPr/>
        </p:nvGrpSpPr>
        <p:grpSpPr>
          <a:xfrm rot="0">
            <a:off x="1030904" y="10005528"/>
            <a:ext cx="16226191" cy="622220"/>
            <a:chOff x="0" y="0"/>
            <a:chExt cx="5520178" cy="211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520178" cy="211680"/>
            </a:xfrm>
            <a:custGeom>
              <a:avLst/>
              <a:gdLst/>
              <a:ahLst/>
              <a:cxnLst/>
              <a:rect r="r" b="b" t="t" l="l"/>
              <a:pathLst>
                <a:path h="211680" w="5520178">
                  <a:moveTo>
                    <a:pt x="0" y="0"/>
                  </a:moveTo>
                  <a:lnTo>
                    <a:pt x="5520178" y="0"/>
                  </a:lnTo>
                  <a:lnTo>
                    <a:pt x="5520178" y="211680"/>
                  </a:lnTo>
                  <a:lnTo>
                    <a:pt x="0" y="211680"/>
                  </a:lnTo>
                  <a:close/>
                </a:path>
              </a:pathLst>
            </a:custGeom>
            <a:solidFill>
              <a:srgbClr val="216666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38100"/>
              <a:ext cx="5520178" cy="173580"/>
            </a:xfrm>
            <a:prstGeom prst="rect">
              <a:avLst/>
            </a:prstGeom>
          </p:spPr>
          <p:txBody>
            <a:bodyPr anchor="ctr" rtlCol="false" tIns="42517" lIns="42517" bIns="42517" rIns="42517"/>
            <a:lstStyle/>
            <a:p>
              <a:pPr algn="ctr">
                <a:lnSpc>
                  <a:spcPts val="2077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219742" y="1925683"/>
            <a:ext cx="2745456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KEY PARTNERS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503067" y="1925712"/>
            <a:ext cx="2745456" cy="33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KEY ACTIVITIES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791305" y="1925712"/>
            <a:ext cx="2745456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VALUE PROPOSITIONS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128263" y="1925712"/>
            <a:ext cx="2745456" cy="65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CUSTOMER RELATIONSHIP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370032" y="1925712"/>
            <a:ext cx="2745456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CUSTOMER SEGMENTS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503067" y="4528060"/>
            <a:ext cx="2745456" cy="33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KEY RESOURCES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094578" y="4404235"/>
            <a:ext cx="2745456" cy="33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CHANNEL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916867" y="7379014"/>
            <a:ext cx="4106114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COST STRUCTURE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910078" y="7379014"/>
            <a:ext cx="4670211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REVENUE STREAM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6336002" y="495610"/>
            <a:ext cx="5615996" cy="819504"/>
            <a:chOff x="0" y="0"/>
            <a:chExt cx="1479110" cy="21583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79110" cy="215837"/>
            </a:xfrm>
            <a:custGeom>
              <a:avLst/>
              <a:gdLst/>
              <a:ahLst/>
              <a:cxnLst/>
              <a:rect r="r" b="b" t="t" l="l"/>
              <a:pathLst>
                <a:path h="215837" w="1479110">
                  <a:moveTo>
                    <a:pt x="0" y="0"/>
                  </a:moveTo>
                  <a:lnTo>
                    <a:pt x="1479110" y="0"/>
                  </a:lnTo>
                  <a:lnTo>
                    <a:pt x="1479110" y="215837"/>
                  </a:lnTo>
                  <a:lnTo>
                    <a:pt x="0" y="215837"/>
                  </a:lnTo>
                  <a:close/>
                </a:path>
              </a:pathLst>
            </a:custGeom>
            <a:solidFill>
              <a:srgbClr val="216666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38100"/>
              <a:ext cx="1479110" cy="177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6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516455" y="401609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Design for:</a:t>
            </a:r>
            <a:r>
              <a:rPr lang="en-US" sz="1828" spc="45">
                <a:solidFill>
                  <a:srgbClr val="2166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Netflix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516455" y="701998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Design by:</a:t>
            </a:r>
            <a:r>
              <a:rPr lang="en-US" sz="1828" spc="45">
                <a:solidFill>
                  <a:srgbClr val="2166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MD Rufsan Jani Shanto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979995" y="401609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Version:</a:t>
            </a:r>
            <a:r>
              <a:rPr lang="en-US" sz="1828" spc="45">
                <a:solidFill>
                  <a:srgbClr val="2166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Profit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4979995" y="701998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Date:</a:t>
            </a:r>
            <a:r>
              <a:rPr lang="en-US" sz="1828" spc="45">
                <a:solidFill>
                  <a:srgbClr val="2166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9/9/2024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6401574" y="682144"/>
            <a:ext cx="5484852" cy="53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4079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BUSINESS MODEL CANVAS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841745" y="2664197"/>
            <a:ext cx="2926194" cy="180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"/>
              </a:lnSpc>
              <a:spcBef>
                <a:spcPct val="0"/>
              </a:spcBef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EXTENSIVE CONTENT LIBRARY</a:t>
            </a:r>
          </a:p>
          <a:p>
            <a:pPr algn="ctr">
              <a:lnSpc>
                <a:spcPts val="1610"/>
              </a:lnSpc>
              <a:spcBef>
                <a:spcPct val="0"/>
              </a:spcBef>
            </a:pPr>
          </a:p>
          <a:p>
            <a:pPr algn="ctr">
              <a:lnSpc>
                <a:spcPts val="1610"/>
              </a:lnSpc>
              <a:spcBef>
                <a:spcPct val="0"/>
              </a:spcBef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CONVENIENCE</a:t>
            </a:r>
          </a:p>
          <a:p>
            <a:pPr algn="ctr">
              <a:lnSpc>
                <a:spcPts val="1610"/>
              </a:lnSpc>
              <a:spcBef>
                <a:spcPct val="0"/>
              </a:spcBef>
            </a:pPr>
          </a:p>
          <a:p>
            <a:pPr algn="ctr">
              <a:lnSpc>
                <a:spcPts val="1610"/>
              </a:lnSpc>
              <a:spcBef>
                <a:spcPct val="0"/>
              </a:spcBef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HIGH-QUALITY STREAMING</a:t>
            </a:r>
          </a:p>
          <a:p>
            <a:pPr algn="ctr">
              <a:lnSpc>
                <a:spcPts val="1610"/>
              </a:lnSpc>
              <a:spcBef>
                <a:spcPct val="0"/>
              </a:spcBef>
            </a:pPr>
          </a:p>
          <a:p>
            <a:pPr algn="ctr">
              <a:lnSpc>
                <a:spcPts val="1610"/>
              </a:lnSpc>
              <a:spcBef>
                <a:spcPct val="0"/>
              </a:spcBef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OFFLINE VIEWING</a:t>
            </a:r>
          </a:p>
          <a:p>
            <a:pPr algn="ctr">
              <a:lnSpc>
                <a:spcPts val="1610"/>
              </a:lnSpc>
              <a:spcBef>
                <a:spcPct val="0"/>
              </a:spcBef>
            </a:pPr>
          </a:p>
          <a:p>
            <a:pPr algn="ctr">
              <a:lnSpc>
                <a:spcPts val="1610"/>
              </a:lnSpc>
              <a:spcBef>
                <a:spcPct val="0"/>
              </a:spcBef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PERSONALIZED RECOMMENDATIONS</a:t>
            </a: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: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435731" y="4684547"/>
            <a:ext cx="2048885" cy="182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WEBSITE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MOBILE APPS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SMART TVS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GAMING CONSOLES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STREAMING MEDIA PLAYERS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1091330" y="2731423"/>
            <a:ext cx="2619394" cy="674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WEBSITE SUPPORT</a:t>
            </a:r>
          </a:p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CUSTOMER SERVICE</a:t>
            </a:r>
          </a:p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SOCIAL MEDIA ENGAGEMENT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228862" y="8127024"/>
            <a:ext cx="8028233" cy="2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SUBSCRIPTION FEES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503067" y="5338757"/>
            <a:ext cx="2894831" cy="77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  <a:spcBef>
                <a:spcPct val="0"/>
              </a:spcBef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CONTENT LIBRARY INFRASTRUCTURE</a:t>
            </a:r>
          </a:p>
          <a:p>
            <a:pPr algn="ctr">
              <a:lnSpc>
                <a:spcPts val="2095"/>
              </a:lnSpc>
              <a:spcBef>
                <a:spcPct val="0"/>
              </a:spcBef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INTELLECTUAL PROPERTY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534811" y="2562536"/>
            <a:ext cx="2713712" cy="101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CONTENT ACQUISITION DEVELOPMENT  STREAMING PLATFORM</a:t>
            </a:r>
          </a:p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CUSTOMER SUPPORT</a:t>
            </a:r>
            <a:r>
              <a:rPr lang="en-US" sz="1964">
                <a:solidFill>
                  <a:srgbClr val="216666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19742" y="7769964"/>
            <a:ext cx="8028233" cy="167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CONTENT LICENSING FEES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ADMINISTRATIVE COSTS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CUSTOMER SUPPORT COSTS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CUSTOMER ACQUISITION COSTS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CONTENT LICENSING FEES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TECHNOLOGY INFRASTRUCTURE COSTS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53596" y="-296573"/>
            <a:ext cx="10881325" cy="10880146"/>
            <a:chOff x="0" y="0"/>
            <a:chExt cx="14508434" cy="14506861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-216290" y="870412"/>
              <a:ext cx="14506861" cy="12766038"/>
            </a:xfrm>
            <a:custGeom>
              <a:avLst/>
              <a:gdLst/>
              <a:ahLst/>
              <a:cxnLst/>
              <a:rect r="r" b="b" t="t" l="l"/>
              <a:pathLst>
                <a:path h="12766038" w="14506861">
                  <a:moveTo>
                    <a:pt x="0" y="0"/>
                  </a:moveTo>
                  <a:lnTo>
                    <a:pt x="14506862" y="0"/>
                  </a:lnTo>
                  <a:lnTo>
                    <a:pt x="14506862" y="12766038"/>
                  </a:lnTo>
                  <a:lnTo>
                    <a:pt x="0" y="12766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0" y="869720"/>
              <a:ext cx="14508434" cy="12767422"/>
            </a:xfrm>
            <a:custGeom>
              <a:avLst/>
              <a:gdLst/>
              <a:ahLst/>
              <a:cxnLst/>
              <a:rect r="r" b="b" t="t" l="l"/>
              <a:pathLst>
                <a:path h="12767422" w="14508434">
                  <a:moveTo>
                    <a:pt x="0" y="0"/>
                  </a:moveTo>
                  <a:lnTo>
                    <a:pt x="14508434" y="0"/>
                  </a:lnTo>
                  <a:lnTo>
                    <a:pt x="14508434" y="12767422"/>
                  </a:lnTo>
                  <a:lnTo>
                    <a:pt x="0" y="12767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927730" y="-296573"/>
            <a:ext cx="10881325" cy="10880146"/>
            <a:chOff x="0" y="0"/>
            <a:chExt cx="14508434" cy="14506861"/>
          </a:xfrm>
        </p:grpSpPr>
        <p:sp>
          <p:nvSpPr>
            <p:cNvPr name="Freeform 6" id="6"/>
            <p:cNvSpPr/>
            <p:nvPr/>
          </p:nvSpPr>
          <p:spPr>
            <a:xfrm flipH="false" flipV="false" rot="5400000">
              <a:off x="-561172" y="870412"/>
              <a:ext cx="14506861" cy="12766038"/>
            </a:xfrm>
            <a:custGeom>
              <a:avLst/>
              <a:gdLst/>
              <a:ahLst/>
              <a:cxnLst/>
              <a:rect r="r" b="b" t="t" l="l"/>
              <a:pathLst>
                <a:path h="12766038" w="14506861">
                  <a:moveTo>
                    <a:pt x="0" y="0"/>
                  </a:moveTo>
                  <a:lnTo>
                    <a:pt x="14506861" y="0"/>
                  </a:lnTo>
                  <a:lnTo>
                    <a:pt x="14506861" y="12766038"/>
                  </a:lnTo>
                  <a:lnTo>
                    <a:pt x="0" y="12766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869720"/>
              <a:ext cx="14508434" cy="12767422"/>
            </a:xfrm>
            <a:custGeom>
              <a:avLst/>
              <a:gdLst/>
              <a:ahLst/>
              <a:cxnLst/>
              <a:rect r="r" b="b" t="t" l="l"/>
              <a:pathLst>
                <a:path h="12767422" w="14508434">
                  <a:moveTo>
                    <a:pt x="0" y="0"/>
                  </a:moveTo>
                  <a:lnTo>
                    <a:pt x="14508434" y="0"/>
                  </a:lnTo>
                  <a:lnTo>
                    <a:pt x="14508434" y="12767422"/>
                  </a:lnTo>
                  <a:lnTo>
                    <a:pt x="0" y="12767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30904" y="-403262"/>
            <a:ext cx="16226191" cy="622220"/>
            <a:chOff x="0" y="0"/>
            <a:chExt cx="5520178" cy="2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0178" cy="211680"/>
            </a:xfrm>
            <a:custGeom>
              <a:avLst/>
              <a:gdLst/>
              <a:ahLst/>
              <a:cxnLst/>
              <a:rect r="r" b="b" t="t" l="l"/>
              <a:pathLst>
                <a:path h="211680" w="5520178">
                  <a:moveTo>
                    <a:pt x="0" y="0"/>
                  </a:moveTo>
                  <a:lnTo>
                    <a:pt x="5520178" y="0"/>
                  </a:lnTo>
                  <a:lnTo>
                    <a:pt x="5520178" y="211680"/>
                  </a:lnTo>
                  <a:lnTo>
                    <a:pt x="0" y="211680"/>
                  </a:lnTo>
                  <a:close/>
                </a:path>
              </a:pathLst>
            </a:custGeom>
            <a:solidFill>
              <a:srgbClr val="2166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5520178" cy="173580"/>
            </a:xfrm>
            <a:prstGeom prst="rect">
              <a:avLst/>
            </a:prstGeom>
          </p:spPr>
          <p:txBody>
            <a:bodyPr anchor="ctr" rtlCol="false" tIns="42517" lIns="42517" bIns="42517" rIns="42517"/>
            <a:lstStyle/>
            <a:p>
              <a:pPr algn="ctr">
                <a:lnSpc>
                  <a:spcPts val="207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5799" y="1576428"/>
            <a:ext cx="3085002" cy="5287755"/>
            <a:chOff x="0" y="0"/>
            <a:chExt cx="4113336" cy="705034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997397" cy="6929221"/>
              <a:chOff x="0" y="0"/>
              <a:chExt cx="812800" cy="140893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49351" lIns="49351" bIns="49351" rIns="49351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15939" y="121119"/>
              <a:ext cx="3997397" cy="6929221"/>
              <a:chOff x="0" y="0"/>
              <a:chExt cx="812800" cy="140893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49351" lIns="49351" bIns="49351" rIns="49351"/>
              <a:lstStyle/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216666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INVESTORS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DEVELOPERS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EMPLOYEE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ENGINEERS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SOFTWEAR COMPANY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ADVERTISING PARTNERS</a:t>
                </a:r>
              </a:p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HARDWARE MANUFACTURERS: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4314233" y="1490486"/>
            <a:ext cx="3094067" cy="2598458"/>
            <a:chOff x="0" y="0"/>
            <a:chExt cx="4125423" cy="346461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8026" y="121119"/>
              <a:ext cx="3997397" cy="3343492"/>
              <a:chOff x="0" y="0"/>
              <a:chExt cx="812800" cy="67984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7683340" y="1490486"/>
            <a:ext cx="3093665" cy="5287755"/>
            <a:chOff x="0" y="0"/>
            <a:chExt cx="4124886" cy="705034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997397" cy="6929221"/>
              <a:chOff x="0" y="0"/>
              <a:chExt cx="812800" cy="140893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7489" y="121119"/>
              <a:ext cx="3997397" cy="6929221"/>
              <a:chOff x="0" y="0"/>
              <a:chExt cx="812800" cy="140893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0872354" y="1490486"/>
            <a:ext cx="3102095" cy="2598458"/>
            <a:chOff x="0" y="0"/>
            <a:chExt cx="4136127" cy="346461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38730" y="121119"/>
              <a:ext cx="3997397" cy="3343492"/>
              <a:chOff x="0" y="0"/>
              <a:chExt cx="812800" cy="67984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14157607" y="1490486"/>
            <a:ext cx="3101693" cy="5287755"/>
            <a:chOff x="0" y="0"/>
            <a:chExt cx="4135590" cy="705034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3997397" cy="6929221"/>
              <a:chOff x="0" y="0"/>
              <a:chExt cx="812800" cy="140893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38193" y="121119"/>
              <a:ext cx="3997397" cy="6929221"/>
              <a:chOff x="0" y="0"/>
              <a:chExt cx="812800" cy="140893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AGE: 18+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SEX:MALE, FEMALE, OTHERS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STUDENT, ADULTS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BUSINESSMAN, HOUSE WIFES ETC.</a:t>
                </a:r>
              </a:p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4305572" y="4179783"/>
            <a:ext cx="3094067" cy="2598458"/>
            <a:chOff x="0" y="0"/>
            <a:chExt cx="4125423" cy="346461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28026" y="121119"/>
              <a:ext cx="3997397" cy="3343492"/>
              <a:chOff x="0" y="0"/>
              <a:chExt cx="812800" cy="67984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10884511" y="4179783"/>
            <a:ext cx="3094067" cy="2598458"/>
            <a:chOff x="0" y="0"/>
            <a:chExt cx="4125423" cy="3464610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28026" y="121119"/>
              <a:ext cx="3997397" cy="3343492"/>
              <a:chOff x="0" y="0"/>
              <a:chExt cx="812800" cy="67984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1030904" y="7006841"/>
            <a:ext cx="8028233" cy="2534952"/>
            <a:chOff x="0" y="0"/>
            <a:chExt cx="10704311" cy="3379936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485676" cy="3303802"/>
              <a:chOff x="0" y="0"/>
              <a:chExt cx="2185490" cy="68859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18549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2185490">
                    <a:moveTo>
                      <a:pt x="0" y="0"/>
                    </a:moveTo>
                    <a:lnTo>
                      <a:pt x="2185490" y="0"/>
                    </a:lnTo>
                    <a:lnTo>
                      <a:pt x="218549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38100"/>
                <a:ext cx="218549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124897" y="118158"/>
              <a:ext cx="10579414" cy="3261777"/>
              <a:chOff x="0" y="0"/>
              <a:chExt cx="2205027" cy="67984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205027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2205027">
                    <a:moveTo>
                      <a:pt x="0" y="0"/>
                    </a:moveTo>
                    <a:lnTo>
                      <a:pt x="2205027" y="0"/>
                    </a:lnTo>
                    <a:lnTo>
                      <a:pt x="2205027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38100"/>
                <a:ext cx="2205027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9231067" y="7006841"/>
            <a:ext cx="8028233" cy="2534952"/>
            <a:chOff x="0" y="0"/>
            <a:chExt cx="10704311" cy="3379936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10485676" cy="3303802"/>
              <a:chOff x="0" y="0"/>
              <a:chExt cx="2185490" cy="688599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218549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2185490">
                    <a:moveTo>
                      <a:pt x="0" y="0"/>
                    </a:moveTo>
                    <a:lnTo>
                      <a:pt x="2185490" y="0"/>
                    </a:lnTo>
                    <a:lnTo>
                      <a:pt x="218549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38100"/>
                <a:ext cx="218549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24897" y="118158"/>
              <a:ext cx="10579414" cy="3261777"/>
              <a:chOff x="0" y="0"/>
              <a:chExt cx="2205027" cy="67984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2205027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2205027">
                    <a:moveTo>
                      <a:pt x="0" y="0"/>
                    </a:moveTo>
                    <a:lnTo>
                      <a:pt x="2205027" y="0"/>
                    </a:lnTo>
                    <a:lnTo>
                      <a:pt x="2205027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38100"/>
                <a:ext cx="2205027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4" id="74"/>
          <p:cNvGrpSpPr/>
          <p:nvPr/>
        </p:nvGrpSpPr>
        <p:grpSpPr>
          <a:xfrm rot="0">
            <a:off x="1030904" y="10005528"/>
            <a:ext cx="16226191" cy="622220"/>
            <a:chOff x="0" y="0"/>
            <a:chExt cx="5520178" cy="211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520178" cy="211680"/>
            </a:xfrm>
            <a:custGeom>
              <a:avLst/>
              <a:gdLst/>
              <a:ahLst/>
              <a:cxnLst/>
              <a:rect r="r" b="b" t="t" l="l"/>
              <a:pathLst>
                <a:path h="211680" w="5520178">
                  <a:moveTo>
                    <a:pt x="0" y="0"/>
                  </a:moveTo>
                  <a:lnTo>
                    <a:pt x="5520178" y="0"/>
                  </a:lnTo>
                  <a:lnTo>
                    <a:pt x="5520178" y="211680"/>
                  </a:lnTo>
                  <a:lnTo>
                    <a:pt x="0" y="211680"/>
                  </a:lnTo>
                  <a:close/>
                </a:path>
              </a:pathLst>
            </a:custGeom>
            <a:solidFill>
              <a:srgbClr val="216666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38100"/>
              <a:ext cx="5520178" cy="173580"/>
            </a:xfrm>
            <a:prstGeom prst="rect">
              <a:avLst/>
            </a:prstGeom>
          </p:spPr>
          <p:txBody>
            <a:bodyPr anchor="ctr" rtlCol="false" tIns="42517" lIns="42517" bIns="42517" rIns="42517"/>
            <a:lstStyle/>
            <a:p>
              <a:pPr algn="ctr">
                <a:lnSpc>
                  <a:spcPts val="2077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219742" y="1925683"/>
            <a:ext cx="2745456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KEY PARTNERS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503067" y="1925712"/>
            <a:ext cx="2745456" cy="33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KEY ACTIVITIES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791305" y="1925712"/>
            <a:ext cx="2745456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VALUE PROPOSITIONS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094578" y="1753264"/>
            <a:ext cx="2745456" cy="65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CUSTOMER RELATIONSHIP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370032" y="1925712"/>
            <a:ext cx="2745456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CUSTOMER SEGMENTS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503067" y="4528060"/>
            <a:ext cx="2745456" cy="33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KEY RESOURCES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094578" y="4404235"/>
            <a:ext cx="2745456" cy="33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CHANNEL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678300" y="7402955"/>
            <a:ext cx="4106114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COST STRUCTURE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910078" y="7379014"/>
            <a:ext cx="4670211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REVENUE STREAM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6336002" y="495610"/>
            <a:ext cx="5615996" cy="819504"/>
            <a:chOff x="0" y="0"/>
            <a:chExt cx="1479110" cy="21583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79110" cy="215837"/>
            </a:xfrm>
            <a:custGeom>
              <a:avLst/>
              <a:gdLst/>
              <a:ahLst/>
              <a:cxnLst/>
              <a:rect r="r" b="b" t="t" l="l"/>
              <a:pathLst>
                <a:path h="215837" w="1479110">
                  <a:moveTo>
                    <a:pt x="0" y="0"/>
                  </a:moveTo>
                  <a:lnTo>
                    <a:pt x="1479110" y="0"/>
                  </a:lnTo>
                  <a:lnTo>
                    <a:pt x="1479110" y="215837"/>
                  </a:lnTo>
                  <a:lnTo>
                    <a:pt x="0" y="215837"/>
                  </a:lnTo>
                  <a:close/>
                </a:path>
              </a:pathLst>
            </a:custGeom>
            <a:solidFill>
              <a:srgbClr val="216666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38100"/>
              <a:ext cx="1479110" cy="177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6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516455" y="401609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Design for: Facebook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516455" y="701998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Design by:</a:t>
            </a:r>
            <a:r>
              <a:rPr lang="en-US" sz="1828" spc="45">
                <a:solidFill>
                  <a:srgbClr val="2166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MD Rufsan Jani Shanto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979995" y="401609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Version:</a:t>
            </a:r>
            <a:r>
              <a:rPr lang="en-US" sz="1828" spc="45">
                <a:solidFill>
                  <a:srgbClr val="2166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Profit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4979995" y="701998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Date:</a:t>
            </a:r>
            <a:r>
              <a:rPr lang="en-US" sz="1828" spc="45">
                <a:solidFill>
                  <a:srgbClr val="2166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9/9/2024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6401574" y="682144"/>
            <a:ext cx="5484852" cy="53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4079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BUSINESS MODEL CANVAS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008481" y="2664197"/>
            <a:ext cx="2592722" cy="180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MESSAGING 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SOCIAL NETWORKING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MEDIA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ENTERTAINMENT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BUSINESS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CONTENT CREATION &amp; SHARE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EARN REVENUE THROUGH ADDS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MARKET PLACE</a:t>
            </a:r>
          </a:p>
          <a:p>
            <a:pPr algn="ctr">
              <a:lnSpc>
                <a:spcPts val="1610"/>
              </a:lnSpc>
              <a:spcBef>
                <a:spcPct val="0"/>
              </a:spcBef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NEWS INFORMATION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435731" y="4684547"/>
            <a:ext cx="2048885" cy="200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"/>
              </a:lnSpc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INTERNET</a:t>
            </a:r>
          </a:p>
          <a:p>
            <a:pPr algn="ctr">
              <a:lnSpc>
                <a:spcPts val="1483"/>
              </a:lnSpc>
            </a:pP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WEBSITE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MOBILE APPS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DEVELOPERS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OTHER SOCIAL MEDIAS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</a:p>
        </p:txBody>
      </p:sp>
      <p:sp>
        <p:nvSpPr>
          <p:cNvPr name="TextBox 96" id="96"/>
          <p:cNvSpPr txBox="true"/>
          <p:nvPr/>
        </p:nvSpPr>
        <p:spPr>
          <a:xfrm rot="0">
            <a:off x="11128263" y="2439021"/>
            <a:ext cx="2619394" cy="155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EMAIL</a:t>
            </a:r>
          </a:p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COMMUNITY BUILDING</a:t>
            </a:r>
          </a:p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CUSTOMER SUPPORT</a:t>
            </a:r>
          </a:p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GOOD SERVICE</a:t>
            </a:r>
          </a:p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EARNING SYSTEMS</a:t>
            </a:r>
          </a:p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SUGGESTIONS</a:t>
            </a:r>
          </a:p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ADVERTISEMENT DISCOUNTS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228862" y="7774599"/>
            <a:ext cx="8028233" cy="167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SUBSCRIPTION 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ADVERTISEMENT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BUSINESS FEEDS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INVESTMENT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DONETION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98" id="98"/>
          <p:cNvSpPr txBox="true"/>
          <p:nvPr/>
        </p:nvSpPr>
        <p:spPr>
          <a:xfrm rot="0">
            <a:off x="4488539" y="5079159"/>
            <a:ext cx="2745456" cy="154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DEVELOPERS</a:t>
            </a:r>
          </a:p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SOFTWARE ENGINEERS</a:t>
            </a:r>
          </a:p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DOMAIN, SERVER</a:t>
            </a:r>
          </a:p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LICENSE</a:t>
            </a:r>
          </a:p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TECHNOLOGY</a:t>
            </a:r>
          </a:p>
          <a:p>
            <a:pPr algn="ctr">
              <a:lnSpc>
                <a:spcPts val="2095"/>
              </a:lnSpc>
              <a:spcBef>
                <a:spcPct val="0"/>
              </a:spcBef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BRAND REPUTATION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534811" y="2562536"/>
            <a:ext cx="2713712" cy="12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GOOD SERVER</a:t>
            </a:r>
          </a:p>
          <a:p>
            <a:pPr algn="ctr">
              <a:lnSpc>
                <a:spcPts val="1964"/>
              </a:lnSpc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BETTER UI</a:t>
            </a:r>
          </a:p>
          <a:p>
            <a:pPr algn="ctr">
              <a:lnSpc>
                <a:spcPts val="1964"/>
              </a:lnSpc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SECURITY</a:t>
            </a:r>
          </a:p>
          <a:p>
            <a:pPr algn="ctr">
              <a:lnSpc>
                <a:spcPts val="1964"/>
              </a:lnSpc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USER VERIFICATION</a:t>
            </a:r>
          </a:p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REDUCE PLAGIARISM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19742" y="7760439"/>
            <a:ext cx="6949873" cy="193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DEVELOPERS FEE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EMPLOYEE FEE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EQUIPMENT COST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SERVICE COST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MAINTENANCE COST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ADVERTISING COST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DATACENTER</a:t>
            </a:r>
          </a:p>
          <a:p>
            <a:pPr algn="ctr">
              <a:lnSpc>
                <a:spcPts val="1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53596" y="-296573"/>
            <a:ext cx="10881325" cy="10880146"/>
            <a:chOff x="0" y="0"/>
            <a:chExt cx="14508434" cy="14506861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-216290" y="870412"/>
              <a:ext cx="14506861" cy="12766038"/>
            </a:xfrm>
            <a:custGeom>
              <a:avLst/>
              <a:gdLst/>
              <a:ahLst/>
              <a:cxnLst/>
              <a:rect r="r" b="b" t="t" l="l"/>
              <a:pathLst>
                <a:path h="12766038" w="14506861">
                  <a:moveTo>
                    <a:pt x="0" y="0"/>
                  </a:moveTo>
                  <a:lnTo>
                    <a:pt x="14506862" y="0"/>
                  </a:lnTo>
                  <a:lnTo>
                    <a:pt x="14506862" y="12766038"/>
                  </a:lnTo>
                  <a:lnTo>
                    <a:pt x="0" y="12766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0" y="869720"/>
              <a:ext cx="14508434" cy="12767422"/>
            </a:xfrm>
            <a:custGeom>
              <a:avLst/>
              <a:gdLst/>
              <a:ahLst/>
              <a:cxnLst/>
              <a:rect r="r" b="b" t="t" l="l"/>
              <a:pathLst>
                <a:path h="12767422" w="14508434">
                  <a:moveTo>
                    <a:pt x="0" y="0"/>
                  </a:moveTo>
                  <a:lnTo>
                    <a:pt x="14508434" y="0"/>
                  </a:lnTo>
                  <a:lnTo>
                    <a:pt x="14508434" y="12767422"/>
                  </a:lnTo>
                  <a:lnTo>
                    <a:pt x="0" y="12767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927730" y="-296573"/>
            <a:ext cx="10881325" cy="10880146"/>
            <a:chOff x="0" y="0"/>
            <a:chExt cx="14508434" cy="14506861"/>
          </a:xfrm>
        </p:grpSpPr>
        <p:sp>
          <p:nvSpPr>
            <p:cNvPr name="Freeform 6" id="6"/>
            <p:cNvSpPr/>
            <p:nvPr/>
          </p:nvSpPr>
          <p:spPr>
            <a:xfrm flipH="false" flipV="false" rot="5400000">
              <a:off x="-561172" y="870412"/>
              <a:ext cx="14506861" cy="12766038"/>
            </a:xfrm>
            <a:custGeom>
              <a:avLst/>
              <a:gdLst/>
              <a:ahLst/>
              <a:cxnLst/>
              <a:rect r="r" b="b" t="t" l="l"/>
              <a:pathLst>
                <a:path h="12766038" w="14506861">
                  <a:moveTo>
                    <a:pt x="0" y="0"/>
                  </a:moveTo>
                  <a:lnTo>
                    <a:pt x="14506861" y="0"/>
                  </a:lnTo>
                  <a:lnTo>
                    <a:pt x="14506861" y="12766038"/>
                  </a:lnTo>
                  <a:lnTo>
                    <a:pt x="0" y="12766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869720"/>
              <a:ext cx="14508434" cy="12767422"/>
            </a:xfrm>
            <a:custGeom>
              <a:avLst/>
              <a:gdLst/>
              <a:ahLst/>
              <a:cxnLst/>
              <a:rect r="r" b="b" t="t" l="l"/>
              <a:pathLst>
                <a:path h="12767422" w="14508434">
                  <a:moveTo>
                    <a:pt x="0" y="0"/>
                  </a:moveTo>
                  <a:lnTo>
                    <a:pt x="14508434" y="0"/>
                  </a:lnTo>
                  <a:lnTo>
                    <a:pt x="14508434" y="12767422"/>
                  </a:lnTo>
                  <a:lnTo>
                    <a:pt x="0" y="12767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24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30904" y="-403262"/>
            <a:ext cx="16226191" cy="622220"/>
            <a:chOff x="0" y="0"/>
            <a:chExt cx="5520178" cy="2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0178" cy="211680"/>
            </a:xfrm>
            <a:custGeom>
              <a:avLst/>
              <a:gdLst/>
              <a:ahLst/>
              <a:cxnLst/>
              <a:rect r="r" b="b" t="t" l="l"/>
              <a:pathLst>
                <a:path h="211680" w="5520178">
                  <a:moveTo>
                    <a:pt x="0" y="0"/>
                  </a:moveTo>
                  <a:lnTo>
                    <a:pt x="5520178" y="0"/>
                  </a:lnTo>
                  <a:lnTo>
                    <a:pt x="5520178" y="211680"/>
                  </a:lnTo>
                  <a:lnTo>
                    <a:pt x="0" y="211680"/>
                  </a:lnTo>
                  <a:close/>
                </a:path>
              </a:pathLst>
            </a:custGeom>
            <a:solidFill>
              <a:srgbClr val="2166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5520178" cy="173580"/>
            </a:xfrm>
            <a:prstGeom prst="rect">
              <a:avLst/>
            </a:prstGeom>
          </p:spPr>
          <p:txBody>
            <a:bodyPr anchor="ctr" rtlCol="false" tIns="42517" lIns="42517" bIns="42517" rIns="42517"/>
            <a:lstStyle/>
            <a:p>
              <a:pPr algn="ctr">
                <a:lnSpc>
                  <a:spcPts val="207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5799" y="1576428"/>
            <a:ext cx="3085002" cy="5287755"/>
            <a:chOff x="0" y="0"/>
            <a:chExt cx="4113336" cy="705034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997397" cy="6929221"/>
              <a:chOff x="0" y="0"/>
              <a:chExt cx="812800" cy="140893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49351" lIns="49351" bIns="49351" rIns="49351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15939" y="121119"/>
              <a:ext cx="3997397" cy="6929221"/>
              <a:chOff x="0" y="0"/>
              <a:chExt cx="812800" cy="140893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49351" lIns="49351" bIns="49351" rIns="49351"/>
              <a:lstStyle/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216666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PEYMENT GETAWAY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216666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RESTURENTS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216666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SOFTWARE ENGINEERS</a:t>
                </a:r>
              </a:p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4314233" y="1490486"/>
            <a:ext cx="3094067" cy="2598458"/>
            <a:chOff x="0" y="0"/>
            <a:chExt cx="4125423" cy="346461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8026" y="121119"/>
              <a:ext cx="3997397" cy="3343492"/>
              <a:chOff x="0" y="0"/>
              <a:chExt cx="812800" cy="67984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7683340" y="1490486"/>
            <a:ext cx="3093665" cy="5287755"/>
            <a:chOff x="0" y="0"/>
            <a:chExt cx="4124886" cy="705034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997397" cy="6929221"/>
              <a:chOff x="0" y="0"/>
              <a:chExt cx="812800" cy="140893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7489" y="121119"/>
              <a:ext cx="3997397" cy="6929221"/>
              <a:chOff x="0" y="0"/>
              <a:chExt cx="812800" cy="140893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0872354" y="1490486"/>
            <a:ext cx="3102095" cy="2598458"/>
            <a:chOff x="0" y="0"/>
            <a:chExt cx="4136127" cy="346461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38730" y="121119"/>
              <a:ext cx="3997397" cy="3343492"/>
              <a:chOff x="0" y="0"/>
              <a:chExt cx="812800" cy="67984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14157607" y="1490486"/>
            <a:ext cx="3101693" cy="5287755"/>
            <a:chOff x="0" y="0"/>
            <a:chExt cx="4135590" cy="705034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3997397" cy="6929221"/>
              <a:chOff x="0" y="0"/>
              <a:chExt cx="812800" cy="140893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38193" y="121119"/>
              <a:ext cx="3997397" cy="6929221"/>
              <a:chOff x="0" y="0"/>
              <a:chExt cx="812800" cy="140893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1408935"/>
              </a:xfrm>
              <a:custGeom>
                <a:avLst/>
                <a:gdLst/>
                <a:ahLst/>
                <a:cxnLst/>
                <a:rect r="r" b="b" t="t" l="l"/>
                <a:pathLst>
                  <a:path h="140893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8935"/>
                    </a:lnTo>
                    <a:lnTo>
                      <a:pt x="0" y="1408935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38100"/>
                <a:ext cx="812800" cy="1370834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SEX: MALE, FEMALE, OTHERS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STUDENT, ADULTS</a:t>
                </a:r>
              </a:p>
              <a:p>
                <a:pPr algn="ctr">
                  <a:lnSpc>
                    <a:spcPts val="2077"/>
                  </a:lnSpc>
                </a:pPr>
                <a:r>
                  <a:rPr lang="en-US" sz="2077">
                    <a:solidFill>
                      <a:srgbClr val="000000"/>
                    </a:solidFill>
                    <a:latin typeface="Gagalin"/>
                    <a:ea typeface="Gagalin"/>
                    <a:cs typeface="Gagalin"/>
                    <a:sym typeface="Gagalin"/>
                  </a:rPr>
                  <a:t>BUSINESSMAN, HOUSE WIVES ETC.</a:t>
                </a:r>
              </a:p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</a:p>
              <a:p>
                <a:pPr algn="ctr">
                  <a:lnSpc>
                    <a:spcPts val="2077"/>
                  </a:lnSpc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4305572" y="4179783"/>
            <a:ext cx="3094067" cy="2598458"/>
            <a:chOff x="0" y="0"/>
            <a:chExt cx="4125423" cy="346461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28026" y="121119"/>
              <a:ext cx="3997397" cy="3343492"/>
              <a:chOff x="0" y="0"/>
              <a:chExt cx="812800" cy="67984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10884511" y="4179783"/>
            <a:ext cx="3094067" cy="2598458"/>
            <a:chOff x="0" y="0"/>
            <a:chExt cx="4125423" cy="3464610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3997397" cy="3386570"/>
              <a:chOff x="0" y="0"/>
              <a:chExt cx="812800" cy="68859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38100"/>
                <a:ext cx="81280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28026" y="121119"/>
              <a:ext cx="3997397" cy="3343492"/>
              <a:chOff x="0" y="0"/>
              <a:chExt cx="812800" cy="67984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38100"/>
                <a:ext cx="812800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1030904" y="7006841"/>
            <a:ext cx="8028233" cy="2534952"/>
            <a:chOff x="0" y="0"/>
            <a:chExt cx="10704311" cy="3379936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485676" cy="3303802"/>
              <a:chOff x="0" y="0"/>
              <a:chExt cx="2185490" cy="68859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18549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2185490">
                    <a:moveTo>
                      <a:pt x="0" y="0"/>
                    </a:moveTo>
                    <a:lnTo>
                      <a:pt x="2185490" y="0"/>
                    </a:lnTo>
                    <a:lnTo>
                      <a:pt x="218549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38100"/>
                <a:ext cx="218549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124897" y="118158"/>
              <a:ext cx="10579414" cy="3261777"/>
              <a:chOff x="0" y="0"/>
              <a:chExt cx="2205027" cy="67984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205027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2205027">
                    <a:moveTo>
                      <a:pt x="0" y="0"/>
                    </a:moveTo>
                    <a:lnTo>
                      <a:pt x="2205027" y="0"/>
                    </a:lnTo>
                    <a:lnTo>
                      <a:pt x="2205027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38100"/>
                <a:ext cx="2205027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9231067" y="7006841"/>
            <a:ext cx="8028233" cy="2534952"/>
            <a:chOff x="0" y="0"/>
            <a:chExt cx="10704311" cy="3379936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10485676" cy="3303802"/>
              <a:chOff x="0" y="0"/>
              <a:chExt cx="2185490" cy="688599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2185490" cy="688599"/>
              </a:xfrm>
              <a:custGeom>
                <a:avLst/>
                <a:gdLst/>
                <a:ahLst/>
                <a:cxnLst/>
                <a:rect r="r" b="b" t="t" l="l"/>
                <a:pathLst>
                  <a:path h="688599" w="2185490">
                    <a:moveTo>
                      <a:pt x="0" y="0"/>
                    </a:moveTo>
                    <a:lnTo>
                      <a:pt x="2185490" y="0"/>
                    </a:lnTo>
                    <a:lnTo>
                      <a:pt x="2185490" y="688599"/>
                    </a:lnTo>
                    <a:lnTo>
                      <a:pt x="0" y="688599"/>
                    </a:lnTo>
                    <a:close/>
                  </a:path>
                </a:pathLst>
              </a:custGeom>
              <a:solidFill>
                <a:srgbClr val="216666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38100"/>
                <a:ext cx="2185490" cy="650499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>
                  <a:lnSpc>
                    <a:spcPts val="2176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24897" y="118158"/>
              <a:ext cx="10579414" cy="3261777"/>
              <a:chOff x="0" y="0"/>
              <a:chExt cx="2205027" cy="67984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2205027" cy="679840"/>
              </a:xfrm>
              <a:custGeom>
                <a:avLst/>
                <a:gdLst/>
                <a:ahLst/>
                <a:cxnLst/>
                <a:rect r="r" b="b" t="t" l="l"/>
                <a:pathLst>
                  <a:path h="679840" w="2205027">
                    <a:moveTo>
                      <a:pt x="0" y="0"/>
                    </a:moveTo>
                    <a:lnTo>
                      <a:pt x="2205027" y="0"/>
                    </a:lnTo>
                    <a:lnTo>
                      <a:pt x="2205027" y="679840"/>
                    </a:lnTo>
                    <a:lnTo>
                      <a:pt x="0" y="67984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216666"/>
                </a:solidFill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38100"/>
                <a:ext cx="2205027" cy="641740"/>
              </a:xfrm>
              <a:prstGeom prst="rect">
                <a:avLst/>
              </a:prstGeom>
            </p:spPr>
            <p:txBody>
              <a:bodyPr anchor="ctr" rtlCol="false" tIns="53213" lIns="53213" bIns="53213" rIns="53213"/>
              <a:lstStyle/>
              <a:p>
                <a:pPr algn="ctr" marL="0" indent="0" lvl="0">
                  <a:lnSpc>
                    <a:spcPts val="2077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74" id="74"/>
          <p:cNvGrpSpPr/>
          <p:nvPr/>
        </p:nvGrpSpPr>
        <p:grpSpPr>
          <a:xfrm rot="0">
            <a:off x="1030904" y="10005528"/>
            <a:ext cx="16226191" cy="622220"/>
            <a:chOff x="0" y="0"/>
            <a:chExt cx="5520178" cy="211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520178" cy="211680"/>
            </a:xfrm>
            <a:custGeom>
              <a:avLst/>
              <a:gdLst/>
              <a:ahLst/>
              <a:cxnLst/>
              <a:rect r="r" b="b" t="t" l="l"/>
              <a:pathLst>
                <a:path h="211680" w="5520178">
                  <a:moveTo>
                    <a:pt x="0" y="0"/>
                  </a:moveTo>
                  <a:lnTo>
                    <a:pt x="5520178" y="0"/>
                  </a:lnTo>
                  <a:lnTo>
                    <a:pt x="5520178" y="211680"/>
                  </a:lnTo>
                  <a:lnTo>
                    <a:pt x="0" y="211680"/>
                  </a:lnTo>
                  <a:close/>
                </a:path>
              </a:pathLst>
            </a:custGeom>
            <a:solidFill>
              <a:srgbClr val="216666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38100"/>
              <a:ext cx="5520178" cy="173580"/>
            </a:xfrm>
            <a:prstGeom prst="rect">
              <a:avLst/>
            </a:prstGeom>
          </p:spPr>
          <p:txBody>
            <a:bodyPr anchor="ctr" rtlCol="false" tIns="42517" lIns="42517" bIns="42517" rIns="42517"/>
            <a:lstStyle/>
            <a:p>
              <a:pPr algn="ctr">
                <a:lnSpc>
                  <a:spcPts val="2077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219742" y="1925683"/>
            <a:ext cx="2745456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KEY PARTNERS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503067" y="1925712"/>
            <a:ext cx="2745456" cy="33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KEY ACTIVITIES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858339" y="1925712"/>
            <a:ext cx="2745456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VALUE PROPOSITIONS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094578" y="1753264"/>
            <a:ext cx="2745456" cy="65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CUSTOMER RELATIONSHIP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370032" y="1925712"/>
            <a:ext cx="2745456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CUSTOMER SEGMENTS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503067" y="4528060"/>
            <a:ext cx="2745456" cy="33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KEY RESOURCES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094578" y="4404235"/>
            <a:ext cx="2745456" cy="33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CHANNEL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678300" y="7402955"/>
            <a:ext cx="4106114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COST STRUCTURE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910078" y="7379014"/>
            <a:ext cx="4670211" cy="32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574">
                <a:solidFill>
                  <a:srgbClr val="00BF63"/>
                </a:solidFill>
                <a:latin typeface="Anton"/>
                <a:ea typeface="Anton"/>
                <a:cs typeface="Anton"/>
                <a:sym typeface="Anton"/>
              </a:rPr>
              <a:t>REVENUE STREAM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6336002" y="495610"/>
            <a:ext cx="5615996" cy="819504"/>
            <a:chOff x="0" y="0"/>
            <a:chExt cx="1479110" cy="21583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79110" cy="215837"/>
            </a:xfrm>
            <a:custGeom>
              <a:avLst/>
              <a:gdLst/>
              <a:ahLst/>
              <a:cxnLst/>
              <a:rect r="r" b="b" t="t" l="l"/>
              <a:pathLst>
                <a:path h="215837" w="1479110">
                  <a:moveTo>
                    <a:pt x="0" y="0"/>
                  </a:moveTo>
                  <a:lnTo>
                    <a:pt x="1479110" y="0"/>
                  </a:lnTo>
                  <a:lnTo>
                    <a:pt x="1479110" y="215837"/>
                  </a:lnTo>
                  <a:lnTo>
                    <a:pt x="0" y="215837"/>
                  </a:lnTo>
                  <a:close/>
                </a:path>
              </a:pathLst>
            </a:custGeom>
            <a:solidFill>
              <a:srgbClr val="216666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38100"/>
              <a:ext cx="1479110" cy="177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6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516455" y="401609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Design for: Food Panda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516455" y="701998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Design by:MD Rufsan Jani Shanto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979995" y="401609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Version:</a:t>
            </a:r>
            <a:r>
              <a:rPr lang="en-US" sz="1828" spc="45">
                <a:solidFill>
                  <a:srgbClr val="2166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Profit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4979995" y="701998"/>
            <a:ext cx="3941224" cy="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4"/>
              </a:lnSpc>
              <a:spcBef>
                <a:spcPct val="0"/>
              </a:spcBef>
            </a:pPr>
            <a:r>
              <a:rPr lang="en-US" b="true" sz="1828" spc="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Date:</a:t>
            </a:r>
            <a:r>
              <a:rPr lang="en-US" sz="1828" spc="45">
                <a:solidFill>
                  <a:srgbClr val="2166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9/9/2024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6401574" y="682144"/>
            <a:ext cx="5484852" cy="53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4079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BUSINESS MODEL CANVAS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489604" y="2664197"/>
            <a:ext cx="1630476" cy="120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FAST DELIVERY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FOOD VARIETY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CUSTOMER SERVICE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FOOD QUALITY </a:t>
            </a:r>
          </a:p>
          <a:p>
            <a:pPr algn="ctr">
              <a:lnSpc>
                <a:spcPts val="1610"/>
              </a:lnSpc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REASONABLE PRICE</a:t>
            </a:r>
          </a:p>
          <a:p>
            <a:pPr algn="ctr">
              <a:lnSpc>
                <a:spcPts val="1610"/>
              </a:lnSpc>
              <a:spcBef>
                <a:spcPct val="0"/>
              </a:spcBef>
            </a:pPr>
            <a:r>
              <a:rPr lang="en-US" sz="161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435731" y="4684547"/>
            <a:ext cx="2048885" cy="92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"/>
              </a:lnSpc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ONLINE APP</a:t>
            </a:r>
          </a:p>
          <a:p>
            <a:pPr algn="ctr">
              <a:lnSpc>
                <a:spcPts val="1483"/>
              </a:lnSpc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DELIVARY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WEBSITE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48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SOCIAL MEDIA 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</a:p>
        </p:txBody>
      </p:sp>
      <p:sp>
        <p:nvSpPr>
          <p:cNvPr name="TextBox 96" id="96"/>
          <p:cNvSpPr txBox="true"/>
          <p:nvPr/>
        </p:nvSpPr>
        <p:spPr>
          <a:xfrm rot="0">
            <a:off x="11128263" y="2439021"/>
            <a:ext cx="2619394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QUALITY ASSURANCE</a:t>
            </a:r>
          </a:p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DISCOUNT OFFERS</a:t>
            </a:r>
          </a:p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TIMELY DELIVERY</a:t>
            </a:r>
          </a:p>
          <a:p>
            <a:pPr algn="ctr">
              <a:lnSpc>
                <a:spcPts val="1791"/>
              </a:lnSpc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CUSTOMER SUPPORT</a:t>
            </a:r>
          </a:p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79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PERSONALIZED RECOMMENDATIONS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228862" y="7774599"/>
            <a:ext cx="8028233" cy="140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FOOD SELLING</a:t>
            </a:r>
          </a:p>
          <a:p>
            <a:pPr algn="ctr">
              <a:lnSpc>
                <a:spcPts val="2239"/>
              </a:lnSpc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DELIVERY CHARGE</a:t>
            </a:r>
          </a:p>
          <a:p>
            <a:pPr algn="ctr">
              <a:lnSpc>
                <a:spcPts val="2239"/>
              </a:lnSpc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RESTAURENT SELL COMMISSION</a:t>
            </a:r>
          </a:p>
          <a:p>
            <a:pPr algn="ctr">
              <a:lnSpc>
                <a:spcPts val="2239"/>
              </a:lnSpc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ADDS INCOME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PARTNERSHIPS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488539" y="5079159"/>
            <a:ext cx="2745456" cy="154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TECHNOLOGY </a:t>
            </a:r>
          </a:p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DEVELOPERS</a:t>
            </a:r>
          </a:p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DELIVERY MAN</a:t>
            </a:r>
          </a:p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BRAND REPUTATION</a:t>
            </a:r>
          </a:p>
          <a:p>
            <a:pPr algn="ctr">
              <a:lnSpc>
                <a:spcPts val="2095"/>
              </a:lnSpc>
            </a:pPr>
            <a:r>
              <a:rPr lang="en-US" sz="209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RESTAURANT PARTNERS</a:t>
            </a:r>
          </a:p>
          <a:p>
            <a:pPr algn="ctr">
              <a:lnSpc>
                <a:spcPts val="2095"/>
              </a:lnSpc>
              <a:spcBef>
                <a:spcPct val="0"/>
              </a:spcBef>
            </a:pPr>
          </a:p>
        </p:txBody>
      </p:sp>
      <p:sp>
        <p:nvSpPr>
          <p:cNvPr name="TextBox 99" id="99"/>
          <p:cNvSpPr txBox="true"/>
          <p:nvPr/>
        </p:nvSpPr>
        <p:spPr>
          <a:xfrm rot="0">
            <a:off x="4534811" y="2562536"/>
            <a:ext cx="2713712" cy="101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4"/>
              </a:lnSpc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CUSTOMNER SERVICE</a:t>
            </a:r>
          </a:p>
          <a:p>
            <a:pPr algn="ctr">
              <a:lnSpc>
                <a:spcPts val="1964"/>
              </a:lnSpc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MARKETING</a:t>
            </a:r>
          </a:p>
          <a:p>
            <a:pPr algn="ctr">
              <a:lnSpc>
                <a:spcPts val="1964"/>
              </a:lnSpc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MAINTENANCE</a:t>
            </a:r>
          </a:p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96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CUSTOMER SERVICE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19742" y="7760439"/>
            <a:ext cx="6949873" cy="145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DELIVERY MAN FEE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TECHNOLOGY 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DEVELOPERS FREE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SUPPORT SERVICE FEE</a:t>
            </a:r>
          </a:p>
          <a:p>
            <a:pPr algn="ctr">
              <a:lnSpc>
                <a:spcPts val="1939"/>
              </a:lnSpc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ADVERTISEMENT FEE</a:t>
            </a:r>
          </a:p>
          <a:p>
            <a:pPr algn="ctr">
              <a:lnSpc>
                <a:spcPts val="1939"/>
              </a:lnSpc>
              <a:spcBef>
                <a:spcPct val="0"/>
              </a:spcBef>
            </a:pPr>
            <a:r>
              <a:rPr lang="en-US" sz="193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APP SERVER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DAGQSBQrFEI</dc:identifier>
  <dcterms:modified xsi:type="dcterms:W3CDTF">2011-08-01T06:04:30Z</dcterms:modified>
  <cp:revision>1</cp:revision>
  <dc:title>Green Grid Business Model Canvas Brainstorm</dc:title>
</cp:coreProperties>
</file>